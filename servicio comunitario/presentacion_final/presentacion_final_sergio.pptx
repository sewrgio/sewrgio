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9144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1089115-5B17-47B7-BEB3-4E61DAAF87F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5B81C9E-A992-4D84-AB77-1FE26E883EC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5EA3A4F-4A9F-4DED-BDE8-A7C2BBDCA23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56FD877-62EE-49B9-BA1B-644C8F41751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47EDBC7-B935-4E59-9174-1D26FB690C5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E5DE3EF-DA06-4F1D-9692-80A9BE689F1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10674A8-F7BA-4F85-A442-0316122117D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D6DD93F-8171-4CE1-9868-C30EB5A2319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DD151B9-B4D2-430E-8AA8-0070A5DE75C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Pulse para editar el formato del texto de título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Pulse para editar el formato de texto del esquema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 del esquema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 del esquema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 del esquema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 del esquema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Sexto nivel del esquema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Séptimo nivel del esquema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790A553-5FCD-4F5D-85F7-4209DAFDA8F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Pulse para editar el formato de texto del esquema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 del esquema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 del esquema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 del esquema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 del esquema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Sexto nivel del esquema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Séptimo nivel del esquema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AC02FD4-3132-45E0-B958-E5A76FC24D7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6.jpeg"/><Relationship Id="rId2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7.jpeg"/><Relationship Id="rId2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8.jpeg"/><Relationship Id="rId2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33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TextBox 1"/>
          <p:cNvSpPr/>
          <p:nvPr/>
        </p:nvSpPr>
        <p:spPr>
          <a:xfrm>
            <a:off x="914400" y="2286000"/>
            <a:ext cx="73148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4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INFORME FINAL DE SERVICIO COMUNITARIO</a:t>
            </a:r>
            <a:endParaRPr lang="es-ES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" name="TextBox 2"/>
          <p:cNvSpPr/>
          <p:nvPr/>
        </p:nvSpPr>
        <p:spPr>
          <a:xfrm>
            <a:off x="914400" y="4114800"/>
            <a:ext cx="73148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Sergio Malavé | IUJO - Informática | 2026</a:t>
            </a:r>
            <a:endParaRPr lang="es-E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Rectangle 1"/>
          <p:cNvSpPr/>
          <p:nvPr/>
        </p:nvSpPr>
        <p:spPr>
          <a:xfrm>
            <a:off x="0" y="0"/>
            <a:ext cx="456840" cy="6857640"/>
          </a:xfrm>
          <a:prstGeom prst="rect">
            <a:avLst/>
          </a:prstGeom>
          <a:solidFill>
            <a:srgbClr val="00336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4" name="TextBox 2"/>
          <p:cNvSpPr/>
          <p:nvPr/>
        </p:nvSpPr>
        <p:spPr>
          <a:xfrm>
            <a:off x="914400" y="457200"/>
            <a:ext cx="77720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3366"/>
                </a:solidFill>
                <a:effectLst/>
                <a:uFillTx/>
                <a:latin typeface="Calibri"/>
              </a:rPr>
              <a:t>INTRODUCCIÓN</a:t>
            </a:r>
            <a:endParaRPr lang="es-E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Box 3"/>
          <p:cNvSpPr/>
          <p:nvPr/>
        </p:nvSpPr>
        <p:spPr>
          <a:xfrm>
            <a:off x="914400" y="1645920"/>
            <a:ext cx="4571640" cy="411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800" b="0" u="none" strike="noStrike">
                <a:solidFill>
                  <a:srgbClr val="404040"/>
                </a:solidFill>
                <a:effectLst/>
                <a:uFillTx/>
                <a:latin typeface="Calibri"/>
              </a:rPr>
              <a:t>• Sistematización del proyecto de Responsabilidad Social.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800" b="0" u="none" strike="noStrike">
                <a:solidFill>
                  <a:srgbClr val="404040"/>
                </a:solidFill>
                <a:effectLst/>
                <a:uFillTx/>
                <a:latin typeface="Calibri"/>
              </a:rPr>
              <a:t>• Alianza estratégica con SUPERATEC Propatria.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800" b="0" u="none" strike="noStrike">
                <a:solidFill>
                  <a:srgbClr val="404040"/>
                </a:solidFill>
                <a:effectLst/>
                <a:uFillTx/>
                <a:latin typeface="Calibri"/>
              </a:rPr>
              <a:t>• Objetivo: Reducción de la brecha digital en la comunidad.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800" b="0" u="none" strike="noStrike">
                <a:solidFill>
                  <a:srgbClr val="404040"/>
                </a:solidFill>
                <a:effectLst/>
                <a:uFillTx/>
                <a:latin typeface="Calibri"/>
              </a:rPr>
              <a:t>• Duración: 3 meses de impacto directo.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6" name="Picture 4" descr="WhatsApp Image 2026-04-12 at 9.55.20 AM (1).jpeg"/>
          <p:cNvPicPr/>
          <p:nvPr/>
        </p:nvPicPr>
        <p:blipFill>
          <a:blip r:embed="rId1"/>
          <a:stretch/>
        </p:blipFill>
        <p:spPr>
          <a:xfrm>
            <a:off x="1495800" y="4140000"/>
            <a:ext cx="5704200" cy="2520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Rectangle 1"/>
          <p:cNvSpPr/>
          <p:nvPr/>
        </p:nvSpPr>
        <p:spPr>
          <a:xfrm>
            <a:off x="0" y="0"/>
            <a:ext cx="456840" cy="6857640"/>
          </a:xfrm>
          <a:prstGeom prst="rect">
            <a:avLst/>
          </a:prstGeom>
          <a:solidFill>
            <a:srgbClr val="00336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8" name="TextBox 2"/>
          <p:cNvSpPr/>
          <p:nvPr/>
        </p:nvSpPr>
        <p:spPr>
          <a:xfrm>
            <a:off x="914400" y="457200"/>
            <a:ext cx="77720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3366"/>
                </a:solidFill>
                <a:effectLst/>
                <a:uFillTx/>
                <a:latin typeface="Calibri"/>
              </a:rPr>
              <a:t>LA COMUNIDAD</a:t>
            </a:r>
            <a:endParaRPr lang="es-E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Box 3"/>
          <p:cNvSpPr/>
          <p:nvPr/>
        </p:nvSpPr>
        <p:spPr>
          <a:xfrm>
            <a:off x="914400" y="1645920"/>
            <a:ext cx="4571640" cy="411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800" b="0" u="none" strike="noStrike">
                <a:solidFill>
                  <a:srgbClr val="404040"/>
                </a:solidFill>
                <a:effectLst/>
                <a:uFillTx/>
                <a:latin typeface="Calibri"/>
              </a:rPr>
              <a:t>• Ubicación: Sede SUPERATEC, Centro Comunal Catia Cecca.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800" b="0" u="none" strike="noStrike">
                <a:solidFill>
                  <a:srgbClr val="404040"/>
                </a:solidFill>
                <a:effectLst/>
                <a:uFillTx/>
                <a:latin typeface="Calibri"/>
              </a:rPr>
              <a:t>• Población: 15 participantes activos (jóvenes y adultos).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800" b="0" u="none" strike="noStrike">
                <a:solidFill>
                  <a:srgbClr val="404040"/>
                </a:solidFill>
                <a:effectLst/>
                <a:uFillTx/>
                <a:latin typeface="Calibri"/>
              </a:rPr>
              <a:t>• Composición: 10 hombres y 5 mujeres.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800" b="0" u="none" strike="noStrike">
                <a:solidFill>
                  <a:srgbClr val="404040"/>
                </a:solidFill>
                <a:effectLst/>
                <a:uFillTx/>
                <a:latin typeface="Calibri"/>
              </a:rPr>
              <a:t>• Entorno: Comunidad de Propatria, Caracas.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0" name="Picture 4" descr="WhatsApp Image 2026-04-12 at 9.55.20 AM (2).jpeg"/>
          <p:cNvPicPr/>
          <p:nvPr/>
        </p:nvPicPr>
        <p:blipFill>
          <a:blip r:embed="rId1"/>
          <a:stretch/>
        </p:blipFill>
        <p:spPr>
          <a:xfrm>
            <a:off x="1080000" y="4412520"/>
            <a:ext cx="7200000" cy="22474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Rectangle 1"/>
          <p:cNvSpPr/>
          <p:nvPr/>
        </p:nvSpPr>
        <p:spPr>
          <a:xfrm>
            <a:off x="0" y="0"/>
            <a:ext cx="456840" cy="6857640"/>
          </a:xfrm>
          <a:prstGeom prst="rect">
            <a:avLst/>
          </a:prstGeom>
          <a:solidFill>
            <a:srgbClr val="00336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2" name="TextBox 2"/>
          <p:cNvSpPr/>
          <p:nvPr/>
        </p:nvSpPr>
        <p:spPr>
          <a:xfrm>
            <a:off x="914400" y="457200"/>
            <a:ext cx="77720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3366"/>
                </a:solidFill>
                <a:effectLst/>
                <a:uFillTx/>
                <a:latin typeface="Calibri"/>
              </a:rPr>
              <a:t>PROBLEMÁTICA</a:t>
            </a:r>
            <a:endParaRPr lang="es-E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Box 3"/>
          <p:cNvSpPr/>
          <p:nvPr/>
        </p:nvSpPr>
        <p:spPr>
          <a:xfrm>
            <a:off x="914400" y="1645920"/>
            <a:ext cx="4571640" cy="411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800" b="0" u="none" strike="noStrike">
                <a:solidFill>
                  <a:srgbClr val="404040"/>
                </a:solidFill>
                <a:effectLst/>
                <a:uFillTx/>
                <a:latin typeface="Calibri"/>
              </a:rPr>
              <a:t>• Desconexión entre acceso básico y formación avanzada.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800" b="0" u="none" strike="noStrike">
                <a:solidFill>
                  <a:srgbClr val="404040"/>
                </a:solidFill>
                <a:effectLst/>
                <a:uFillTx/>
                <a:latin typeface="Calibri"/>
              </a:rPr>
              <a:t>• Barreras psicológicas y baja autoeficacia tecnológica.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800" b="0" u="none" strike="noStrike">
                <a:solidFill>
                  <a:srgbClr val="404040"/>
                </a:solidFill>
                <a:effectLst/>
                <a:uFillTx/>
                <a:latin typeface="Calibri"/>
              </a:rPr>
              <a:t>• Estereotipos que limitan el aprendizaje en mujeres y adultos mayores.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800" b="0" u="none" strike="noStrike">
                <a:solidFill>
                  <a:srgbClr val="404040"/>
                </a:solidFill>
                <a:effectLst/>
                <a:uFillTx/>
                <a:latin typeface="Calibri"/>
              </a:rPr>
              <a:t>• Necesidad de rutas de aprendizaje claras y actualizadas.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4" name="Picture 4" descr="WhatsApp Image 2026-04-12 at 9.55.21 AM.jpeg"/>
          <p:cNvPicPr/>
          <p:nvPr/>
        </p:nvPicPr>
        <p:blipFill>
          <a:blip r:embed="rId1"/>
          <a:stretch/>
        </p:blipFill>
        <p:spPr>
          <a:xfrm>
            <a:off x="5943600" y="1645920"/>
            <a:ext cx="2742840" cy="48726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Rectangle 1"/>
          <p:cNvSpPr/>
          <p:nvPr/>
        </p:nvSpPr>
        <p:spPr>
          <a:xfrm>
            <a:off x="0" y="0"/>
            <a:ext cx="456840" cy="6857640"/>
          </a:xfrm>
          <a:prstGeom prst="rect">
            <a:avLst/>
          </a:prstGeom>
          <a:solidFill>
            <a:srgbClr val="00336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6" name="TextBox 2"/>
          <p:cNvSpPr/>
          <p:nvPr/>
        </p:nvSpPr>
        <p:spPr>
          <a:xfrm>
            <a:off x="914400" y="457200"/>
            <a:ext cx="77720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3366"/>
                </a:solidFill>
                <a:effectLst/>
                <a:uFillTx/>
                <a:latin typeface="Calibri"/>
              </a:rPr>
              <a:t>ESTRATEGIA METODOLÓGICA</a:t>
            </a:r>
            <a:endParaRPr lang="es-E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Box 3"/>
          <p:cNvSpPr/>
          <p:nvPr/>
        </p:nvSpPr>
        <p:spPr>
          <a:xfrm>
            <a:off x="914400" y="1645920"/>
            <a:ext cx="4571640" cy="411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800" b="0" u="none" strike="noStrike">
                <a:solidFill>
                  <a:srgbClr val="404040"/>
                </a:solidFill>
                <a:effectLst/>
                <a:uFillTx/>
                <a:latin typeface="Calibri"/>
              </a:rPr>
              <a:t>• Modelo: Aprendizaje por Proyectos (ABP).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800" b="0" u="none" strike="noStrike">
                <a:solidFill>
                  <a:srgbClr val="404040"/>
                </a:solidFill>
                <a:effectLst/>
                <a:uFillTx/>
                <a:latin typeface="Calibri"/>
              </a:rPr>
              <a:t>• Formato: Híbrido (Sesiones Teórico-Prácticas).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800" b="0" u="none" strike="noStrike">
                <a:solidFill>
                  <a:srgbClr val="404040"/>
                </a:solidFill>
                <a:effectLst/>
                <a:uFillTx/>
                <a:latin typeface="Calibri"/>
              </a:rPr>
              <a:t>• Estructura: 4 horas semanales de inmersión técnica.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800" b="0" u="none" strike="noStrike">
                <a:solidFill>
                  <a:srgbClr val="404040"/>
                </a:solidFill>
                <a:effectLst/>
                <a:uFillTx/>
                <a:latin typeface="Calibri"/>
              </a:rPr>
              <a:t>• Evaluación: Cualitativa y cuantitativa por desempeño.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8" name="Picture 4" descr="WhatsApp Image 2026-04-17 at 11.22.17 AM (1).jpeg"/>
          <p:cNvPicPr/>
          <p:nvPr/>
        </p:nvPicPr>
        <p:blipFill>
          <a:blip r:embed="rId1"/>
          <a:stretch/>
        </p:blipFill>
        <p:spPr>
          <a:xfrm>
            <a:off x="5943600" y="1645920"/>
            <a:ext cx="2742840" cy="48765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Rectangle 1"/>
          <p:cNvSpPr/>
          <p:nvPr/>
        </p:nvSpPr>
        <p:spPr>
          <a:xfrm>
            <a:off x="0" y="0"/>
            <a:ext cx="456840" cy="6857640"/>
          </a:xfrm>
          <a:prstGeom prst="rect">
            <a:avLst/>
          </a:prstGeom>
          <a:solidFill>
            <a:srgbClr val="00336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0" name="TextBox 2"/>
          <p:cNvSpPr/>
          <p:nvPr/>
        </p:nvSpPr>
        <p:spPr>
          <a:xfrm>
            <a:off x="914400" y="457200"/>
            <a:ext cx="77720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3366"/>
                </a:solidFill>
                <a:effectLst/>
                <a:uFillTx/>
                <a:latin typeface="Calibri"/>
              </a:rPr>
              <a:t>ACTIVIDADES TÉCNICAS</a:t>
            </a:r>
            <a:endParaRPr lang="es-E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Box 3"/>
          <p:cNvSpPr/>
          <p:nvPr/>
        </p:nvSpPr>
        <p:spPr>
          <a:xfrm>
            <a:off x="914400" y="1645920"/>
            <a:ext cx="4571640" cy="411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800" b="0" u="none" strike="noStrike">
                <a:solidFill>
                  <a:srgbClr val="404040"/>
                </a:solidFill>
                <a:effectLst/>
                <a:uFillTx/>
                <a:latin typeface="Calibri"/>
              </a:rPr>
              <a:t>• Fundamentos de la Web y Estructura HTML5.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800" b="0" u="none" strike="noStrike">
                <a:solidFill>
                  <a:srgbClr val="404040"/>
                </a:solidFill>
                <a:effectLst/>
                <a:uFillTx/>
                <a:latin typeface="Calibri"/>
              </a:rPr>
              <a:t>• Maquetación y Estilos con CSS3 (Responsive Design).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800" b="0" u="none" strike="noStrike">
                <a:solidFill>
                  <a:srgbClr val="404040"/>
                </a:solidFill>
                <a:effectLst/>
                <a:uFillTx/>
                <a:latin typeface="Calibri"/>
              </a:rPr>
              <a:t>• Lógica de Programación y Variables en JavaScript.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800" b="0" u="none" strike="noStrike">
                <a:solidFill>
                  <a:srgbClr val="404040"/>
                </a:solidFill>
                <a:effectLst/>
                <a:uFillTx/>
                <a:latin typeface="Calibri"/>
              </a:rPr>
              <a:t>• Desarrollo de proyectos finales funcionales.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2" name="Picture 4" descr="WhatsApp Image 2026-04-17 at 11.22.17 AM (2).jpeg"/>
          <p:cNvPicPr/>
          <p:nvPr/>
        </p:nvPicPr>
        <p:blipFill>
          <a:blip r:embed="rId1"/>
          <a:stretch/>
        </p:blipFill>
        <p:spPr>
          <a:xfrm>
            <a:off x="5943600" y="1645920"/>
            <a:ext cx="2742840" cy="48765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Rectangle 1"/>
          <p:cNvSpPr/>
          <p:nvPr/>
        </p:nvSpPr>
        <p:spPr>
          <a:xfrm>
            <a:off x="0" y="0"/>
            <a:ext cx="456840" cy="6857640"/>
          </a:xfrm>
          <a:prstGeom prst="rect">
            <a:avLst/>
          </a:prstGeom>
          <a:solidFill>
            <a:srgbClr val="00336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4" name="TextBox 2"/>
          <p:cNvSpPr/>
          <p:nvPr/>
        </p:nvSpPr>
        <p:spPr>
          <a:xfrm>
            <a:off x="914400" y="457200"/>
            <a:ext cx="77720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3366"/>
                </a:solidFill>
                <a:effectLst/>
                <a:uFillTx/>
                <a:latin typeface="Calibri"/>
              </a:rPr>
              <a:t>RESULTADOS CLAVE</a:t>
            </a:r>
            <a:endParaRPr lang="es-E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Box 3"/>
          <p:cNvSpPr/>
          <p:nvPr/>
        </p:nvSpPr>
        <p:spPr>
          <a:xfrm>
            <a:off x="914400" y="1645920"/>
            <a:ext cx="4571640" cy="411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800" b="0" u="none" strike="noStrike">
                <a:solidFill>
                  <a:srgbClr val="404040"/>
                </a:solidFill>
                <a:effectLst/>
                <a:uFillTx/>
                <a:latin typeface="Calibri"/>
              </a:rPr>
              <a:t>• 92% de asistencia promedio.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800" b="0" u="none" strike="noStrike">
                <a:solidFill>
                  <a:srgbClr val="404040"/>
                </a:solidFill>
                <a:effectLst/>
                <a:uFillTx/>
                <a:latin typeface="Calibri"/>
              </a:rPr>
              <a:t>• 15 sitios web personales creados desde cero.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800" b="0" u="none" strike="noStrike">
                <a:solidFill>
                  <a:srgbClr val="404040"/>
                </a:solidFill>
                <a:effectLst/>
                <a:uFillTx/>
                <a:latin typeface="Calibri"/>
              </a:rPr>
              <a:t>• 85% de los participantes aprobados con excelencia.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800" b="0" u="none" strike="noStrike">
                <a:solidFill>
                  <a:srgbClr val="404040"/>
                </a:solidFill>
                <a:effectLst/>
                <a:uFillTx/>
                <a:latin typeface="Calibri"/>
              </a:rPr>
              <a:t>• 95% nivel de satisfacción en la comunidad.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6" name="Picture 4" descr="WhatsApp Image 2026-04-17 at 11.22.17 AM.jpeg"/>
          <p:cNvPicPr/>
          <p:nvPr/>
        </p:nvPicPr>
        <p:blipFill>
          <a:blip r:embed="rId1"/>
          <a:stretch/>
        </p:blipFill>
        <p:spPr>
          <a:xfrm>
            <a:off x="5943600" y="1645920"/>
            <a:ext cx="2742840" cy="48765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Rectangle 1"/>
          <p:cNvSpPr/>
          <p:nvPr/>
        </p:nvSpPr>
        <p:spPr>
          <a:xfrm>
            <a:off x="0" y="0"/>
            <a:ext cx="456840" cy="6857640"/>
          </a:xfrm>
          <a:prstGeom prst="rect">
            <a:avLst/>
          </a:prstGeom>
          <a:solidFill>
            <a:srgbClr val="00336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8" name="TextBox 2"/>
          <p:cNvSpPr/>
          <p:nvPr/>
        </p:nvSpPr>
        <p:spPr>
          <a:xfrm>
            <a:off x="914400" y="457200"/>
            <a:ext cx="77720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3366"/>
                </a:solidFill>
                <a:effectLst/>
                <a:uFillTx/>
                <a:latin typeface="Calibri"/>
              </a:rPr>
              <a:t>PERFIL ACADÉMICO</a:t>
            </a:r>
            <a:endParaRPr lang="es-E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Box 3"/>
          <p:cNvSpPr/>
          <p:nvPr/>
        </p:nvSpPr>
        <p:spPr>
          <a:xfrm>
            <a:off x="914400" y="1645920"/>
            <a:ext cx="4571640" cy="411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800" b="0" u="none" strike="noStrike">
                <a:solidFill>
                  <a:srgbClr val="404040"/>
                </a:solidFill>
                <a:effectLst/>
                <a:uFillTx/>
                <a:latin typeface="Calibri"/>
              </a:rPr>
              <a:t>• Aplicación de Programación I, II y Diseño Web.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800" b="0" u="none" strike="noStrike">
                <a:solidFill>
                  <a:srgbClr val="404040"/>
                </a:solidFill>
                <a:effectLst/>
                <a:uFillTx/>
                <a:latin typeface="Calibri"/>
              </a:rPr>
              <a:t>• Sistemas Operativos e Ingeniería de Software.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800" b="0" u="none" strike="noStrike">
                <a:solidFill>
                  <a:srgbClr val="404040"/>
                </a:solidFill>
                <a:effectLst/>
                <a:uFillTx/>
                <a:latin typeface="Calibri"/>
              </a:rPr>
              <a:t>• Ética Profesional y Compromiso Social IUJO.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800" b="0" u="none" strike="noStrike">
                <a:solidFill>
                  <a:srgbClr val="404040"/>
                </a:solidFill>
                <a:effectLst/>
                <a:uFillTx/>
                <a:latin typeface="Calibri"/>
              </a:rPr>
              <a:t>• Consolidación de la vocación docente-tecnológica.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0" name="Picture 4" descr="WhatsApp Image 2026-04-17 at 11.22.18 AM.jpeg"/>
          <p:cNvPicPr/>
          <p:nvPr/>
        </p:nvPicPr>
        <p:blipFill>
          <a:blip r:embed="rId1"/>
          <a:stretch/>
        </p:blipFill>
        <p:spPr>
          <a:xfrm>
            <a:off x="5943600" y="1645920"/>
            <a:ext cx="2742840" cy="48765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Rectangle 1"/>
          <p:cNvSpPr/>
          <p:nvPr/>
        </p:nvSpPr>
        <p:spPr>
          <a:xfrm>
            <a:off x="0" y="0"/>
            <a:ext cx="456840" cy="6857640"/>
          </a:xfrm>
          <a:prstGeom prst="rect">
            <a:avLst/>
          </a:prstGeom>
          <a:solidFill>
            <a:srgbClr val="00336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2" name="TextBox 2"/>
          <p:cNvSpPr/>
          <p:nvPr/>
        </p:nvSpPr>
        <p:spPr>
          <a:xfrm>
            <a:off x="914400" y="457200"/>
            <a:ext cx="77720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3366"/>
                </a:solidFill>
                <a:effectLst/>
                <a:uFillTx/>
                <a:latin typeface="Calibri"/>
              </a:rPr>
              <a:t>CONCLUSIONES</a:t>
            </a:r>
            <a:endParaRPr lang="es-E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Box 3"/>
          <p:cNvSpPr/>
          <p:nvPr/>
        </p:nvSpPr>
        <p:spPr>
          <a:xfrm>
            <a:off x="914400" y="1645920"/>
            <a:ext cx="4571640" cy="411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800" b="0" u="none" strike="noStrike">
                <a:solidFill>
                  <a:srgbClr val="404040"/>
                </a:solidFill>
                <a:effectLst/>
                <a:uFillTx/>
                <a:latin typeface="Calibri"/>
              </a:rPr>
              <a:t>• Éxito en la reducción de barreras tecnológicas.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800" b="0" u="none" strike="noStrike">
                <a:solidFill>
                  <a:srgbClr val="404040"/>
                </a:solidFill>
                <a:effectLst/>
                <a:uFillTx/>
                <a:latin typeface="Calibri"/>
              </a:rPr>
              <a:t>• Importancia de las alianzas universidad-comunidad.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800" b="0" u="none" strike="noStrike">
                <a:solidFill>
                  <a:srgbClr val="404040"/>
                </a:solidFill>
                <a:effectLst/>
                <a:uFillTx/>
                <a:latin typeface="Calibri"/>
              </a:rPr>
              <a:t>• Necesidad de continuidad en la formación digital.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800" b="0" u="none" strike="noStrike">
                <a:solidFill>
                  <a:srgbClr val="404040"/>
                </a:solidFill>
                <a:effectLst/>
                <a:uFillTx/>
                <a:latin typeface="Calibri"/>
              </a:rPr>
              <a:t>• Impacto positivo en la empleabilidad local.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4" name="Picture 4" descr="WhatsApp Image 2026-04-17 at 11.22.22 AM.jpeg"/>
          <p:cNvPicPr/>
          <p:nvPr/>
        </p:nvPicPr>
        <p:blipFill>
          <a:blip r:embed="rId1"/>
          <a:stretch/>
        </p:blipFill>
        <p:spPr>
          <a:xfrm>
            <a:off x="5943600" y="1645920"/>
            <a:ext cx="2742840" cy="48765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33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TextBox 1"/>
          <p:cNvSpPr/>
          <p:nvPr/>
        </p:nvSpPr>
        <p:spPr>
          <a:xfrm>
            <a:off x="914400" y="2743200"/>
            <a:ext cx="731484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4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¡MUCHAS GRACIAS POR SU ATENCIÓN!</a:t>
            </a:r>
            <a:endParaRPr lang="es-ES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Application>LibreOffice/25.8.6.2$Linux_X86_64 LibreOffice_project/a46b460d1686bb49c718d2ef5f88b83ff2dc4981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es-ES</dc:language>
  <cp:lastModifiedBy/>
  <dcterms:modified xsi:type="dcterms:W3CDTF">2026-04-23T09:21:30Z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